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216" y="312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presProps" Target="presProps.xml"  /><Relationship Id="rId19" Type="http://schemas.openxmlformats.org/officeDocument/2006/relationships/viewProps" Target="viewProps.xml"  /><Relationship Id="rId2" Type="http://schemas.openxmlformats.org/officeDocument/2006/relationships/notesMaster" Target="notesMasters/notesMaster1.xml"  /><Relationship Id="rId20" Type="http://schemas.openxmlformats.org/officeDocument/2006/relationships/theme" Target="theme/theme1.xml"  /><Relationship Id="rId21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5282F153-3F37-0F45-9E97-73ACFA13230C}" type="datetime1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7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8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9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0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2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3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4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5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5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6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8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9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0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2" Type="http://schemas.openxmlformats.org/officeDocument/2006/relationships/slideLayout" Target="../slideLayouts/slideLayout1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2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3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4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5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">
    <p:bg>
      <p:bgPr shadeToTitle="0"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 시간표 추천 프로젝트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2331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· 현재 상황 · 다음 단계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54864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063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ko-KR" altLang="en-US" sz="1400" i="1">
                <a:solidFill>
                  <a:srgbClr val="cadcfc"/>
                </a:solidFill>
                <a:latin typeface="맑은 고딕"/>
                <a:ea typeface="맑은 고딕"/>
                <a:cs typeface="맑은 고딕"/>
              </a:rPr>
              <a:t>고려대</a:t>
            </a:r>
            <a:r>
              <a:rPr lang="en-US" sz="1400" i="1">
                <a:solidFill>
                  <a:srgbClr val="cadcfc"/>
                </a:solidFill>
                <a:latin typeface="맑은 고딕"/>
                <a:ea typeface="맑은 고딕"/>
                <a:cs typeface="맑은 고딕"/>
              </a:rPr>
              <a:t> 학생을 위한 시간표 추천 도구 + 알고리즘 단위 설명</a:t>
            </a:r>
            <a:endParaRPr lang="en-US" sz="1400" i="1">
              <a:solidFill>
                <a:srgbClr val="cadcfc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8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균형 모델 (후보 C)   ·   product.md ✓ 확정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8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2026-05-19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진행 흐름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· 현재는 2단계 ↔ 3단계 사이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2940" y="1463040"/>
            <a:ext cx="1783080" cy="1371600"/>
          </a:xfrm>
          <a:prstGeom prst="rect">
            <a:avLst/>
          </a:prstGeom>
          <a:solidFill>
            <a:srgbClr val="DCFCE7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2940" y="1554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2940" y="18288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54380" y="226771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사용자·제약·우선순위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80260" y="15087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46020" y="214884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74620" y="1463040"/>
            <a:ext cx="1783080" cy="1371600"/>
          </a:xfrm>
          <a:prstGeom prst="rect">
            <a:avLst/>
          </a:prstGeom>
          <a:solidFill>
            <a:srgbClr val="DCFCE7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4620" y="1554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74620" y="18288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 구조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66060" y="226771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A·B·C 트리 (MVP)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091940" y="15087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57700" y="214884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686300" y="1463040"/>
            <a:ext cx="1783080" cy="1371600"/>
          </a:xfrm>
          <a:prstGeom prst="rect">
            <a:avLst/>
          </a:prstGeom>
          <a:solidFill>
            <a:srgbClr val="FEF3E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86300" y="1554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86300" y="18288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구조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77740" y="226771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frontend·server·llm-include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03620" y="15087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◐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69380" y="214884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697980" y="1463040"/>
            <a:ext cx="1783080" cy="137160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97980" y="1554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97980" y="18288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789420" y="226771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schemas·libs·api·tests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115300" y="15087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⏳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069080" y="2971800"/>
            <a:ext cx="1005840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69080" y="29718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⭐ 현재 위치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0" y="2834640"/>
            <a:ext cx="0" cy="13716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알고리즘 구조 확정 </a:t>
            </a:r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(drafts/algorithm-tree.md §9)   →   </a:t>
            </a:r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⏳ 웹 구조 흡수 대기 </a:t>
            </a:r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(architecture.md §4.1)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15   ·   알고리즘 시간표 추천   ·   2026-05-19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 — 풀려는 문제와 사용자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200400" cy="3108960"/>
          </a:xfrm>
          <a:prstGeom prst="rect">
            <a:avLst/>
          </a:prstGeom>
          <a:solidFill>
            <a:srgbClr val="F3F5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 사용자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ko-KR" altLang="en-US" sz="2200" b="1">
                <a:solidFill>
                  <a:srgbClr val="1e2761"/>
                </a:solidFill>
                <a:latin typeface="맑은 고딕"/>
                <a:ea typeface="맑은 고딕"/>
                <a:cs typeface="맑은 고딕"/>
              </a:rPr>
              <a:t>고려대 </a:t>
            </a:r>
            <a:r>
              <a:rPr lang="en-US" sz="2200" b="1">
                <a:solidFill>
                  <a:srgbClr val="1e2761"/>
                </a:solidFill>
                <a:latin typeface="맑은 고딕"/>
                <a:ea typeface="맑은 고딕"/>
                <a:cs typeface="맑은 고딕"/>
              </a:rPr>
              <a:t>학생</a:t>
            </a:r>
            <a:endParaRPr lang="en-US" sz="2200" b="1">
              <a:solidFill>
                <a:srgbClr val="1e276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학기 시간표를 손으로 엑셀에서 만드는 학생. 제약이 4개 이상이라 자주 빠뜨리고 다시 짠다.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도구의 한계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포털 — 시간 충돌만 검사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앱 — 캠퍼스 거리 없음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 — 빠진 제약 자주 발견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931920" y="1280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동시에 만족해야 하는 4가지 제약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31920" y="1645920"/>
            <a:ext cx="22860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69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17830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충돌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0" y="2286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동시간대 두 강의 불가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1645920"/>
            <a:ext cx="22860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040880" y="17830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학점 한도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2286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상한·하한 안에서 조합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931920" y="3108960"/>
            <a:ext cx="22860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690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572000" y="32461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시간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14800" y="3749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건물 간 도보 가능해야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0" y="3108960"/>
            <a:ext cx="22860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040880" y="32461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중요도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83680" y="3749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듣고 싶은 강의 우선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15   ·   알고리즘 시간표 추천   ·   2026-05-19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균형 모델 — 후보 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23444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ko-KR" altLang="en-US" sz="15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고려대 </a:t>
            </a:r>
            <a:r>
              <a:rPr lang="en-US" sz="15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학생이 강의 후보를 입력하면, </a:t>
            </a:r>
            <a:r>
              <a:rPr lang="en-US" sz="1500" b="1">
                <a:solidFill>
                  <a:srgbClr val="fbbf24"/>
                </a:solidFill>
                <a:latin typeface="맑은 고딕"/>
                <a:ea typeface="맑은 고딕"/>
                <a:cs typeface="맑은 고딕"/>
              </a:rPr>
              <a:t>이동 시간·학점·중요도</a:t>
            </a:r>
            <a:r>
              <a:rPr lang="en-US" sz="15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를 고려한 최적 시간표를 받고, </a:t>
            </a:r>
            <a:r>
              <a:rPr lang="en-US" sz="1500" b="1">
                <a:solidFill>
                  <a:srgbClr val="fbbf24"/>
                </a:solidFill>
                <a:latin typeface="맑은 고딕"/>
                <a:ea typeface="맑은 고딕"/>
                <a:cs typeface="맑은 고딕"/>
              </a:rPr>
              <a:t>어떻게 그 결과가 나왔는지</a:t>
            </a:r>
            <a:r>
              <a:rPr lang="en-US" sz="15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를 알고리즘 단위로 확인·이해할 수 있도록 해주는 학습 겸용 도구.</a:t>
            </a:r>
            <a:endParaRPr lang="en-US" sz="150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7889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우선순위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 정확성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설명 가능성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 유저 중요도 반영 충실도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63440" y="27889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시스템 불변항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3108960"/>
            <a:ext cx="4023360" cy="1280160"/>
          </a:xfrm>
          <a:prstGeom prst="rect">
            <a:avLst/>
          </a:prstGeom>
          <a:solidFill>
            <a:srgbClr val="F3F5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32004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결정은 항상 알고리즘이 한다.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LLM은 </a:t>
            </a:r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번역가(입구)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변호인(출구)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 자리를 </a:t>
            </a:r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대신하지 않는다.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15   ·   알고리즘 시간표 추천   ·   2026-05-19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— 트레이드오프 발생 시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product.md §4 · 10개 항목 · 위로 갈수록 우선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502920"/>
          </a:xfrm>
          <a:prstGeom prst="rect">
            <a:avLst/>
          </a:prstGeom>
          <a:solidFill>
            <a:srgbClr val="FEF3E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280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정확성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834640" y="12801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제약 위반 0건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4023360" cy="502920"/>
          </a:xfrm>
          <a:prstGeom prst="rect">
            <a:avLst/>
          </a:prstGeom>
          <a:solidFill>
            <a:srgbClr val="FEF3E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745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 가능성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640" y="18745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 단위로 추적 가능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4023360" cy="502920"/>
          </a:xfrm>
          <a:prstGeom prst="rect">
            <a:avLst/>
          </a:prstGeom>
          <a:solidFill>
            <a:srgbClr val="FEF3E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4688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2468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유저 중요도 반영 충실도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34640" y="24688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매긴 점수 그대로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0632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3063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모순·불가능 입력 안내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34640" y="30632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제약 풀면 가능한지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6576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657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가능성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34640" y="3657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손으로 검산 가능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1280160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2801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12080" y="1280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속도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40880" y="12801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≤ 3초 (LLM 포함)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1874520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8745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21208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다양성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40880" y="18745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N개가 의미 있게 다름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2468880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4688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212080" y="2468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부담 최소화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040880" y="24688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동률 시 타이브레이커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3063240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0632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212080" y="3063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제어권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040880" y="30632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(본 과제 범위 후순위)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3657600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6576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212080" y="3657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안정성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040880" y="3657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(가장 후순위)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15   ·   알고리즘 시간표 추천   ·   2026-05-19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 구조 (MVP) — A · B · C 책임 기반 3분할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drafts/algorithm-tree.md §9   ·   ✓ 확정 (locked)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25780" y="1463040"/>
            <a:ext cx="260604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5780" y="1463040"/>
            <a:ext cx="260604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2940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[A]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57300" y="158191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가능성 분석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2940" y="19202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조합이 통과하는가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08660" y="2423160"/>
            <a:ext cx="2240280" cy="502920"/>
          </a:xfrm>
          <a:prstGeom prst="rect">
            <a:avLst/>
          </a:prstGeom>
          <a:solidFill>
            <a:srgbClr val="F3F5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0100" y="24231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A-1  per-course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8660" y="3017520"/>
            <a:ext cx="2240280" cy="502920"/>
          </a:xfrm>
          <a:prstGeom prst="rect">
            <a:avLst/>
          </a:prstGeom>
          <a:solidFill>
            <a:srgbClr val="F3F5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100" y="30175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A-2  per-pair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8660" y="3611880"/>
            <a:ext cx="2240280" cy="502920"/>
          </a:xfrm>
          <a:prstGeom prst="rect">
            <a:avLst/>
          </a:prstGeom>
          <a:solidFill>
            <a:srgbClr val="F3F5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0100" y="36118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A-3  per-subset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31820" y="297180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268980" y="1463040"/>
            <a:ext cx="260604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68980" y="1463040"/>
            <a:ext cx="260604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06140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[B]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000500" y="158191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가치 평가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06140" y="19202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얼마나 좋은가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51860" y="2423160"/>
            <a:ext cx="2240280" cy="502920"/>
          </a:xfrm>
          <a:prstGeom prst="rect">
            <a:avLst/>
          </a:prstGeom>
          <a:solidFill>
            <a:srgbClr val="F3F5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3300" y="24231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B-1  per-course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51860" y="3017520"/>
            <a:ext cx="2240280" cy="502920"/>
          </a:xfrm>
          <a:prstGeom prst="rect">
            <a:avLst/>
          </a:prstGeom>
          <a:solidFill>
            <a:srgbClr val="F3F5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43300" y="30175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B-2  per-pair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51860" y="3611880"/>
            <a:ext cx="2240280" cy="502920"/>
          </a:xfrm>
          <a:prstGeom prst="rect">
            <a:avLst/>
          </a:prstGeom>
          <a:solidFill>
            <a:srgbClr val="F3F5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43300" y="36118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B-3  per-schedule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875020" y="297180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012180" y="1463040"/>
            <a:ext cx="260604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12180" y="1463040"/>
            <a:ext cx="260604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49340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[C]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743700" y="158191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선택과 비교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149340" y="19202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보여줄 것인가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95060" y="2423160"/>
            <a:ext cx="2240280" cy="502920"/>
          </a:xfrm>
          <a:prstGeom prst="rect">
            <a:avLst/>
          </a:prstGeom>
          <a:solidFill>
            <a:srgbClr val="F3F5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86500" y="24231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C-1  per-set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95060" y="3017520"/>
            <a:ext cx="2240280" cy="502920"/>
          </a:xfrm>
          <a:prstGeom prst="rect">
            <a:avLst/>
          </a:prstGeom>
          <a:solidFill>
            <a:srgbClr val="F3F5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86500" y="30175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C-2  per-pair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95060" y="3611880"/>
            <a:ext cx="2240280" cy="502920"/>
          </a:xfrm>
          <a:prstGeom prst="rect">
            <a:avLst/>
          </a:prstGeom>
          <a:solidFill>
            <a:srgbClr val="F3F5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86500" y="36118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C-3  per-course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좁→넓 합성  (A·B)        →        넓→좁 분해  (C)   ·   divide-conquer-combine 형상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15   ·   알고리즘 시간표 추천   ·   2026-05-19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가능성 분석  (Feasibility)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강의 조합이 hard 제약을 통과하는가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914400"/>
          </a:xfrm>
          <a:prstGeom prst="rect">
            <a:avLst/>
          </a:prstGeom>
          <a:solidFill>
            <a:srgbClr val="FFFFFF"/>
          </a:solidFill>
          <a:ln w="1651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5880"/>
            <a:ext cx="73152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173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A-1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풀 정제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0" y="1435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per-course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0" y="1417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해시 탐색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17830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명시 제외·필수, 데이터 정합성, blackout 완전 겹침 제거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solidFill>
            <a:srgbClr val="FFFFFF"/>
          </a:solidFill>
          <a:ln w="1651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77440"/>
            <a:ext cx="73152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4688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A-2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2468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충돌 관계 산출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0" y="2487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per-pair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0" y="2468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정렬 · 이진 탐색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28346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겹침·이동 시간 부족 검사, 양립 가능성 행렬 N×N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429000"/>
            <a:ext cx="8229600" cy="914400"/>
          </a:xfrm>
          <a:prstGeom prst="rect">
            <a:avLst/>
          </a:prstGeom>
          <a:solidFill>
            <a:srgbClr val="FFFFFF"/>
          </a:solidFill>
          <a:ln w="16510">
            <a:solidFill>
              <a:srgbClr val="1E27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429000"/>
            <a:ext cx="73152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5204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A-3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3520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공간 가지치기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0" y="3538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per-subset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0" y="3520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활동 선택  (그리디)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38862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학점 한도 도달 가능성 검증, 시간 순 시퀀스 구축, infeasibility 조기 종료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추상 수준: 1 강의 → 2 강의 → N 강의 (단조 증가)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15   ·   알고리즘 시간표 추천   ·   2026-05-19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가치 평가  (Valuation)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통과한 조합 각각이 얼마나 좋은가  ·  점수 식의 정점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777240"/>
          </a:xfrm>
          <a:prstGeom prst="rect">
            <a:avLst/>
          </a:prstGeom>
          <a:solidFill>
            <a:srgbClr val="FFFFFF"/>
          </a:solidFill>
          <a:ln w="1651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5880"/>
            <a:ext cx="73152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716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B-1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371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단위 가치 v(c)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399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per-course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해시 · 이진 탐색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17099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중요도×학점 + 시간대/건물/카테고리 페널티 합산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8229600" cy="777240"/>
          </a:xfrm>
          <a:prstGeom prst="rect">
            <a:avLst/>
          </a:prstGeom>
          <a:solidFill>
            <a:srgbClr val="FFFFFF"/>
          </a:solidFill>
          <a:ln w="1651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240280"/>
            <a:ext cx="73152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2860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B-2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2286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전이 비용 전계산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23134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per-pair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0" y="2286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플로이드-워셜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26243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건물 쌍 최단 이동 시간 — V³로 한 번, 이후 O(1) 룩업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154680"/>
            <a:ext cx="8229600" cy="777240"/>
          </a:xfrm>
          <a:prstGeom prst="rect">
            <a:avLst/>
          </a:prstGeom>
          <a:solidFill>
            <a:srgbClr val="FFFFFF"/>
          </a:solidFill>
          <a:ln w="16510">
            <a:solidFill>
              <a:srgbClr val="1E27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154680"/>
            <a:ext cx="73152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2004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B-3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3200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점수 최적화 + top-K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54880" y="3227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per-schedule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26480" y="3200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행렬경로 DP + 0-1 배낭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35387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슬롯 격자에서 누적, 충돌·필수 잠금 반영, 백트래킹으로 top-K 복원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solidFill>
            <a:srgbClr val="F3F5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206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식  (단일 레벨 선형 합산)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score(S) = Σ v(c)  −  λ₁·총 이동시간  −  λ₂·압축 페널티  −  λ₃·다양성 페널티   (hard 제약 위반 시 −∞)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15   ·   알고리즘 시간표 추천   ·   2026-05-19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선택과 비교  (Selection)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매겨진 후보를 사용자가 비교할 수 있게 정리  ·  추상 수준은 거꾸로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914400"/>
          </a:xfrm>
          <a:prstGeom prst="rect">
            <a:avLst/>
          </a:prstGeom>
          <a:solidFill>
            <a:srgbClr val="FFFFFF"/>
          </a:solidFill>
          <a:ln w="1651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5880"/>
            <a:ext cx="73152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173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C-1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417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N개 정렬 · 동률 처리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4356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per-set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35040" y="1417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합병 정렬  (안정)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17830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내림차순 + 동률 안정, 다양성 5% 양보 후처리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solidFill>
            <a:srgbClr val="FFFFFF"/>
          </a:solidFill>
          <a:ln w="1651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77440"/>
            <a:ext cx="73152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4688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C-2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2468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쌍 비교 골격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24871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per-pair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35040" y="2468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LCS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28346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백본 추출, 차이 강의 식별 — 1등 vs 2등 같은 설명에 직결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429000"/>
            <a:ext cx="8229600" cy="914400"/>
          </a:xfrm>
          <a:prstGeom prst="rect">
            <a:avLst/>
          </a:prstGeom>
          <a:solidFill>
            <a:srgbClr val="FFFFFF"/>
          </a:solidFill>
          <a:ln w="16510">
            <a:solidFill>
              <a:srgbClr val="1E27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429000"/>
            <a:ext cx="73152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5204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C-3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3520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강의별 포함·배제 사유 색인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54880" y="35387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per-course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35040" y="3520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해시 탐색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38862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 가능성 1순위 자료 — 왜 빠졌어요?에 즉답하는 자료 구조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추상 수준: N개 시간표 → 시간표 쌍 → 1개 강의 (단조 감소 · 사용자 주의 흐름에 맞춤)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15   ·   알고리즘 시간표 추천   ·   2026-05-19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알고리즘 — 5 카테고리 모두 횡단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algorithms.md 요건 4+개 → 필수 9개 + 옵션 3개로 자연스럽게 두 배 초과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4864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200400"/>
                <a:gridCol w="1188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카테고리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알고리즘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 정렬 / 합병 정렬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A-2 / C-1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탐색·선택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해시 탐색 / 이진 탐색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A-1·B-1·C-3 / A-2·B-1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탐욕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활동 선택 / 다익스트라(옵션)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A-3 / B-2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DP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플로이드-워셜·행렬경로+0-1배낭·LCS·편집(옵션)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B-2 · B-3 · C-2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위상 정렬 (옵션)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A-3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280160"/>
            <a:ext cx="2468880" cy="3108960"/>
          </a:xfrm>
          <a:prstGeom prst="rect">
            <a:avLst/>
          </a:prstGeom>
          <a:solidFill>
            <a:srgbClr val="F3F5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복잡도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0" y="1783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O(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V³ + N² + N·C + Ñ²·L²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400800" y="2468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0" y="2880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지배항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V³ (플로이드-워셜) 또는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N² (충돌 행렬)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00800" y="3611880"/>
            <a:ext cx="219456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0" y="36301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현실 입력 ≈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492240" y="38221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≈ 11,000 연산  /  1 ms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시간 지배항은 알고리즘이 아니라 LLM 호출 (~1초) — 알고리즘은 응답 예산의 1% 이하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15   ·   알고리즘 시간표 추천   ·   2026-05-19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2200" b="1">
                <a:solidFill>
                  <a:srgbClr val="1e2761"/>
                </a:solidFill>
                <a:latin typeface="맑은 고딕"/>
                <a:ea typeface="맑은 고딕"/>
                <a:cs typeface="맑은 고딕"/>
              </a:rPr>
              <a:t>시나리오 — 김민지 (</a:t>
            </a:r>
            <a:r>
              <a:rPr lang="ko-KR" altLang="en-US" sz="2200" b="1">
                <a:solidFill>
                  <a:srgbClr val="1e2761"/>
                </a:solidFill>
                <a:latin typeface="맑은 고딕"/>
                <a:ea typeface="맑은 고딕"/>
                <a:cs typeface="맑은 고딕"/>
              </a:rPr>
              <a:t>고려대 </a:t>
            </a:r>
            <a:r>
              <a:rPr lang="en-US" sz="2200" b="1">
                <a:solidFill>
                  <a:srgbClr val="1e2761"/>
                </a:solidFill>
                <a:latin typeface="맑은 고딕"/>
                <a:ea typeface="맑은 고딕"/>
                <a:cs typeface="맑은 고딕"/>
              </a:rPr>
              <a:t>컴</a:t>
            </a:r>
            <a:r>
              <a:rPr lang="ko-KR" altLang="en-US" sz="2200" b="1">
                <a:solidFill>
                  <a:srgbClr val="1e2761"/>
                </a:solidFill>
                <a:latin typeface="맑은 고딕"/>
                <a:ea typeface="맑은 고딕"/>
                <a:cs typeface="맑은 고딕"/>
              </a:rPr>
              <a:t>융</a:t>
            </a:r>
            <a:r>
              <a:rPr lang="en-US" sz="2200" b="1">
                <a:solidFill>
                  <a:srgbClr val="1e2761"/>
                </a:solidFill>
                <a:latin typeface="맑은 고딕"/>
                <a:ea typeface="맑은 고딕"/>
                <a:cs typeface="맑은 고딕"/>
              </a:rPr>
              <a:t> 3학년)</a:t>
            </a:r>
            <a:endParaRPr lang="en-US" sz="2200" b="1">
              <a:solidFill>
                <a:srgbClr val="1e276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→ A → B → C → 응답 한 사이클 추적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3383280"/>
          </a:xfrm>
          <a:prstGeom prst="rect">
            <a:avLst/>
          </a:prstGeom>
          <a:solidFill>
            <a:srgbClr val="F3F5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6576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학점 한도: 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15~18학점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포함: 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절대 제외: 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C++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Blackout: 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 09시 이전 (통학)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후보 8개  (중요도 1~5)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 5 · 운영체제 5 · 인공지능 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컴파일러 4 · 데이터베이스 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영어회화 2 · 철학 3 · C++ 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4023360" cy="3383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 ·  top-3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783080"/>
            <a:ext cx="3657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828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1등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589520" y="1828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≈ 64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21031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 · 운영체제 · 컴파일러 · 데이터베이스 · 철학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0" y="23317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15학점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2697480"/>
            <a:ext cx="3657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743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2등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589520" y="2743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≈ 58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0175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 · 운영체제 · 컴파일러 · 데이터베이스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0" y="32461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12학점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3611880"/>
            <a:ext cx="3657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657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3등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589520" y="3657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≈ 53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39319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 · 운영체제 · 데이터베이스 · 철학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37760" y="41605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12학점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15   ·   알고리즘 시간표 추천   ·   2026-05-19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구조 — 3계층 단방향 의존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 → server → llm-include   ·   거꾸로 import 금지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25780" y="1508760"/>
            <a:ext cx="2606040" cy="2926080"/>
          </a:xfrm>
          <a:prstGeom prst="rect">
            <a:avLst/>
          </a:prstGeom>
          <a:solidFill>
            <a:srgbClr val="EFF6FF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8660" y="1691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08660" y="21031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화면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08660" y="2468880"/>
            <a:ext cx="2240280" cy="0"/>
          </a:xfrm>
          <a:prstGeom prst="line">
            <a:avLst/>
          </a:prstGeom>
          <a:noFill/>
          <a:ln w="10160">
            <a:solidFill>
              <a:srgbClr val="60A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8660" y="25603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08660" y="280720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폼·결과 렌더링·에러 톤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08660" y="35204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08660" y="3749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스택 미정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31820" y="297180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268980" y="1508760"/>
            <a:ext cx="2606040" cy="2926080"/>
          </a:xfrm>
          <a:prstGeom prst="rect">
            <a:avLst/>
          </a:prstGeom>
          <a:solidFill>
            <a:srgbClr val="ECFDF5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51860" y="1691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451860" y="21031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백엔드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51860" y="2468880"/>
            <a:ext cx="2240280" cy="0"/>
          </a:xfrm>
          <a:prstGeom prst="line">
            <a:avLst/>
          </a:prstGeom>
          <a:noFill/>
          <a:ln w="1016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51860" y="25603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51860" y="280720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라우트·알고리즘·LLM 호출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51860" y="35204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51860" y="3749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골격 + ⏳ 트리 구현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875020" y="297180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012180" y="1508760"/>
            <a:ext cx="2606040" cy="2926080"/>
          </a:xfrm>
          <a:prstGeom prst="rect">
            <a:avLst/>
          </a:prstGeom>
          <a:solidFill>
            <a:srgbClr val="FEF3E7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5060" y="1691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llm-include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195060" y="21031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자료 저장소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95060" y="2468880"/>
            <a:ext cx="2240280" cy="0"/>
          </a:xfrm>
          <a:prstGeom prst="line">
            <a:avLst/>
          </a:prstGeom>
          <a:noFill/>
          <a:ln w="10160">
            <a:solidFill>
              <a:srgbClr val="FBBF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5060" y="25603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95060" y="280720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프롬프트·few-shot·도메인 자료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95060" y="35204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95060" y="3749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⏳ 공급자 미정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base/ — 세 계층 경계의 결정 문서 (product · UX · architecture · algorithms · tasks · progress)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15   ·   알고리즘 시간표 추천   ·   2026-05-19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흐름 — 입력에서 응답까지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LLM은 트리 외부 두 자리(입구·출구)에만  ·  결정은 항상 알고리즘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94944" y="1828800"/>
            <a:ext cx="914400" cy="1188720"/>
          </a:xfrm>
          <a:prstGeom prst="rect">
            <a:avLst/>
          </a:prstGeom>
          <a:solidFill>
            <a:srgbClr val="F1F5F9"/>
          </a:solidFill>
          <a:ln w="1524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82880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09344" y="2423160"/>
            <a:ext cx="118872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728216" y="1828800"/>
            <a:ext cx="1143000" cy="1188720"/>
          </a:xfrm>
          <a:prstGeom prst="rect">
            <a:avLst/>
          </a:prstGeom>
          <a:solidFill>
            <a:srgbClr val="FEF3E7"/>
          </a:solidFill>
          <a:ln w="22860">
            <a:solidFill>
              <a:srgbClr val="D97706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728216" y="1828800"/>
            <a:ext cx="1143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LLM-A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수치화 (선택)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71216" y="2423160"/>
            <a:ext cx="118872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90088" y="1828800"/>
            <a:ext cx="100584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dot"/>
          </a:ln>
        </p:spPr>
      </p:sp>
      <p:sp>
        <p:nvSpPr>
          <p:cNvPr id="11" name="Text 9"/>
          <p:cNvSpPr/>
          <p:nvPr/>
        </p:nvSpPr>
        <p:spPr>
          <a:xfrm>
            <a:off x="2990088" y="182880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Preference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Vector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995928" y="2423160"/>
            <a:ext cx="118872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114800" y="1828800"/>
            <a:ext cx="1143000" cy="1188720"/>
          </a:xfrm>
          <a:prstGeom prst="rect">
            <a:avLst/>
          </a:prstGeom>
          <a:solidFill>
            <a:srgbClr val="1E2761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1828800"/>
            <a:ext cx="1143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(A·B·C)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57800" y="2423160"/>
            <a:ext cx="118872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376672" y="1828800"/>
            <a:ext cx="100584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dot"/>
          </a:ln>
        </p:spPr>
      </p:sp>
      <p:sp>
        <p:nvSpPr>
          <p:cNvPr id="17" name="Text 15"/>
          <p:cNvSpPr/>
          <p:nvPr/>
        </p:nvSpPr>
        <p:spPr>
          <a:xfrm>
            <a:off x="5376672" y="182880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82512" y="2423160"/>
            <a:ext cx="118872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501384" y="1828800"/>
            <a:ext cx="1143000" cy="1188720"/>
          </a:xfrm>
          <a:prstGeom prst="rect">
            <a:avLst/>
          </a:prstGeom>
          <a:solidFill>
            <a:srgbClr val="FEF3E7"/>
          </a:solidFill>
          <a:ln w="22860">
            <a:solidFill>
              <a:srgbClr val="D97706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501384" y="1828800"/>
            <a:ext cx="1143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LLM-B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 (필수)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644384" y="2423160"/>
            <a:ext cx="118872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763256" y="1828800"/>
            <a:ext cx="685800" cy="1188720"/>
          </a:xfrm>
          <a:prstGeom prst="rect">
            <a:avLst/>
          </a:prstGeom>
          <a:solidFill>
            <a:srgbClr val="F1F5F9"/>
          </a:solidFill>
          <a:ln w="1524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63256" y="1828800"/>
            <a:ext cx="685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246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점선 박스 = LLM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4747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자유 텍스트 → 수치 (선택)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SelectionResult → 자연어 (필수)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0" y="3246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점선 박스 = 데이터 캐리어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0" y="34747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PreferenceVector — 학생 선호·제약 표준 입력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SelectionResult — top-N + 비교 + 사유 색인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시간의 95%는 LLM-B 호출에서 발생  ·  알고리즘 자체는 ≈ 1 ms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15   ·   알고리즘 시간표 추천   ·   2026-05-19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— 구현 진행 순서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app/ 디렉터리  ·  현재는 골격만 ✓, 나머지 ⏳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— 골격만 갖춰진 상태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229600" cy="502920"/>
          </a:xfrm>
          <a:prstGeom prst="rect">
            <a:avLst/>
          </a:prstGeom>
          <a:solidFill>
            <a:srgbClr val="DCFCE7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FastAPI 골격 (app/main.py, api/, crud/, schemas/)     ✓  Supabase 클라이언트 (app/db/supabase.py)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순서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743200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7157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app/schemas/  —  데이터 계약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94436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PreferenceVector · FeasibilityResult · ValuationResult · SelectionResult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246120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2186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app/libs/  —  알고리즘 노드 + 12 알고리즘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344728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A·B·C 노드의 순수 함수 구현, 단위 테스트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749040"/>
            <a:ext cx="365760" cy="36576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721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app/api/v1/solve-schedule  —  엔드포인트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395020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라우트 + 검증 + 응답 조립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4251960"/>
            <a:ext cx="365760" cy="36576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42245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tests/  —  단위 + 통합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445312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 케이스 + 김민지 시나리오 회귀 테스트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15   ·   알고리즘 시간표 추천   ·   2026-05-19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⭐  현재 위치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 구조  ↔  웹 구조 사이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80160" y="1554480"/>
            <a:ext cx="1508760" cy="822960"/>
          </a:xfrm>
          <a:prstGeom prst="rect">
            <a:avLst/>
          </a:prstGeom>
          <a:solidFill>
            <a:srgbClr val="DCFCE7"/>
          </a:solidFill>
          <a:ln w="1651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6459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  문제 정의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19659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971800" y="1554480"/>
            <a:ext cx="1508760" cy="822960"/>
          </a:xfrm>
          <a:prstGeom prst="rect">
            <a:avLst/>
          </a:prstGeom>
          <a:solidFill>
            <a:srgbClr val="DCFCE7"/>
          </a:solidFill>
          <a:ln w="1651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63240" y="16459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  알고리즘 구조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63240" y="19659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663440" y="1554480"/>
            <a:ext cx="1508760" cy="822960"/>
          </a:xfrm>
          <a:prstGeom prst="rect">
            <a:avLst/>
          </a:prstGeom>
          <a:solidFill>
            <a:srgbClr val="FEE2E2"/>
          </a:solidFill>
          <a:ln w="3175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6459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P3  웹 구조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9659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⭐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355080" y="1554480"/>
            <a:ext cx="1508760" cy="822960"/>
          </a:xfrm>
          <a:prstGeom prst="rect">
            <a:avLst/>
          </a:prstGeom>
          <a:solidFill>
            <a:srgbClr val="F1F5F9"/>
          </a:solidFill>
          <a:ln w="1651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6459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P4  코딩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19659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⏳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2743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6EF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끝낸 일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06324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product.md  §1~§5 채움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algorithm-tree.md §9 확정 (locked)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 9개 문서 Gemini-친화 변환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structure-overview.md 구조도 저장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2743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합의·작업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306324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⏳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user-experience.md 작성  ★ 즉시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⏳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architecture.md §4.1로 트리 흡수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⏳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app/schemas/ 4개 Pydantic 정의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 스택·LLM 공급자·LLM-A 도입 결정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드래프트 확정 직후, UX 단계 진입 전 — 가장 큰 의사결정이 다음에 일어남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PptxGenJS</ep:Company>
  <ep:Words>1198</ep:Words>
  <ep:PresentationFormat>On-screen Show (16:9)</ep:PresentationFormat>
  <ep:Paragraphs>303</ep:Paragraphs>
  <ep:Slides>15</ep:Slides>
  <ep:Notes>15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ep:HeadingPairs>
  <ep:TitlesOfParts>
    <vt:vector size="16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2026-05-19T08:25:44.000</dcterms:created>
  <dc:creator>algorithm-lower-triangular</dc:creator>
  <cp:lastModifiedBy>Edward.k</cp:lastModifiedBy>
  <dcterms:modified xsi:type="dcterms:W3CDTF">2026-05-19T09:11:22.613</dcterms:modified>
  <cp:revision>3</cp:revision>
  <dc:subject>PptxGenJS Presentation</dc:subject>
  <dc:title>알고리즘 시간표 추천 — 프로젝트 계획 및 현재 상황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